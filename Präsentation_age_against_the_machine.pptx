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91" r:id="rId6"/>
    <p:sldId id="284" r:id="rId7"/>
    <p:sldId id="292" r:id="rId8"/>
    <p:sldId id="293" r:id="rId9"/>
    <p:sldId id="295" r:id="rId10"/>
    <p:sldId id="296" r:id="rId11"/>
    <p:sldId id="294" r:id="rId12"/>
    <p:sldId id="299" r:id="rId13"/>
    <p:sldId id="301" r:id="rId14"/>
    <p:sldId id="306" r:id="rId15"/>
    <p:sldId id="297" r:id="rId16"/>
    <p:sldId id="302" r:id="rId17"/>
    <p:sldId id="303" r:id="rId18"/>
    <p:sldId id="300" r:id="rId19"/>
    <p:sldId id="304" r:id="rId20"/>
    <p:sldId id="305" r:id="rId21"/>
    <p:sldId id="290" r:id="rId22"/>
    <p:sldId id="275" r:id="rId23"/>
    <p:sldId id="309" r:id="rId24"/>
    <p:sldId id="310" r:id="rId25"/>
    <p:sldId id="298" r:id="rId26"/>
    <p:sldId id="289" r:id="rId27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036BD1-D52A-47E6-96F3-7FE26C8D1700}" type="datetime1">
              <a:rPr lang="de-DE" smtClean="0"/>
              <a:t>15.09.2025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CB1D3-BF63-4A30-93AB-65E8BED3EA06}" type="datetime1">
              <a:rPr lang="de-DE" smtClean="0"/>
              <a:pPr/>
              <a:t>15.09.2025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noProof="0" smtClean="0"/>
              <a:t>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77522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9857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2054-5057-4A4F-522E-4500123A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F9EA7FE-0796-ABE0-DE6D-AEE5F48F4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C11935-11C1-7A4F-A028-40A99A4C9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D34098-23A5-8AD3-5191-B6266CCF4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994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585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B151E-B482-7A83-B479-3FC5F524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96A5A2-2975-AFF3-CAA7-F1CCF3A96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E37572C-3031-E073-3FE6-1F402CFA4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8C421C-879C-590F-552E-2A5B92C87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11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D301-BCD3-1091-3ECD-BDA7E0EA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C9AA394-A003-5ED8-9598-FB4747DD5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919818-E488-1943-EE48-4120028E5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67455D-9C7E-E59F-FB0B-9EE6A5054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025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B48E-1A50-5DA0-F901-9DAB1FEF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3EBE8C-0D59-A44A-B60C-0EEF085D4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BA5565-9E16-4B98-3B70-61802FCAC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3B45BC-92A9-663F-DB7B-83484DDFE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8500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196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1" name="Datumsplatzhalter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22" name="Fußzeilenplatzhalter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23" name="Foliennummernplatzhalt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noProof="0"/>
              <a:t>Textmasterformat durch Klicken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15" name="Fußzeilenplatzhalter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16" name="Foliennummernplatzhalt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er Inhal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1" name="Datumsplatzhalter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22" name="Fußzeilenplatzhalter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23" name="Foliennummernplatzhalt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linker Inhal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 durch Klicken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5" name="Fußzeilenplatzhalter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16" name="Foliennummernplatzhalt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mit oberem Rand zentrier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zentrier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10" name="Foliennummernplatzhalt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1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2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3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4</a:t>
            </a:r>
          </a:p>
        </p:txBody>
      </p:sp>
      <p:sp>
        <p:nvSpPr>
          <p:cNvPr id="21" name="Online-Bildplatzhalt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2" name="Online-Bildplatzhalt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3" name="Online-Bildplatzhalt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4" name="Online-Bildplatzhalt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5" name="Datumsplatzhalter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26" name="Fußzeilenplatzhalter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27" name="Foliennummernplatzhalt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vier Bil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1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2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3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4</a:t>
            </a:r>
          </a:p>
        </p:txBody>
      </p:sp>
      <p:sp>
        <p:nvSpPr>
          <p:cNvPr id="21" name="Online-Bildplatzhalt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2" name="Online-Bildplatzhalt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3" name="Online-Bildplatzhalt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24" name="Online-Bildplatzhalt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e-DE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1</a:t>
            </a: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2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3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Aufzählungszeichen 4</a:t>
            </a:r>
          </a:p>
        </p:txBody>
      </p:sp>
      <p:sp>
        <p:nvSpPr>
          <p:cNvPr id="28" name="Textplatzhalter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0" name="Datumsplatzhalter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31" name="Fußzeilenplatzhalter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32" name="Foliennummernplatzhalt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umsplatzhalter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42" name="Fußzeilenplatzhalter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43" name="Foliennummernplatzhalt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richtiger Inhal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10" name="Foliennummernplatzhalt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bschluss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e-DE" noProof="0"/>
              <a:t>Zum Bearbeiten klicken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6" name="Bildplatzhalter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de-DE" noProof="0"/>
              <a:t>Klicken Sie, um ein Bild hinzuzufügen.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de-DE" noProof="0"/>
              <a:t>Klicken Sie, um ein Bild hinzuzufügen.</a:t>
            </a:r>
          </a:p>
        </p:txBody>
      </p:sp>
      <p:sp>
        <p:nvSpPr>
          <p:cNvPr id="8" name="Bildplatzhalter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de-DE" noProof="0"/>
              <a:t>Klicken Sie, um ein Bild hinzuzufügen.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de-DE" noProof="0"/>
              <a:t>Klicken Sie, um ein Bild hinzuzufügen.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22" name="Textplatzhalter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Name</a:t>
            </a:r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e-DE" noProof="0"/>
              <a:t>Titel</a:t>
            </a:r>
          </a:p>
        </p:txBody>
      </p:sp>
      <p:sp>
        <p:nvSpPr>
          <p:cNvPr id="24" name="Datumsplatzhalter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25" name="Fußzeilenplatzhalter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26" name="Foliennummernplatzhalt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29.7.20XX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Mitarbeiterorientierung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E057B28-8C40-2994-165F-9604675E2B00}"/>
              </a:ext>
            </a:extLst>
          </p:cNvPr>
          <p:cNvSpPr txBox="1"/>
          <p:nvPr/>
        </p:nvSpPr>
        <p:spPr>
          <a:xfrm>
            <a:off x="469011" y="1170431"/>
            <a:ext cx="3196590" cy="15885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Age </a:t>
            </a:r>
            <a:r>
              <a:rPr lang="de-DE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against</a:t>
            </a:r>
            <a:r>
              <a:rPr lang="de-DE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de-DE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Machine</a:t>
            </a:r>
            <a:r>
              <a:rPr lang="de-DE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Learning</a:t>
            </a:r>
          </a:p>
        </p:txBody>
      </p:sp>
      <p:pic>
        <p:nvPicPr>
          <p:cNvPr id="3" name="Picture 2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DE7C19A0-52FD-DD33-23C6-2FF5F3E83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463" y="916737"/>
            <a:ext cx="4786781" cy="47867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9821D71-031D-3FD7-B15D-C3B7F13E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de-DE" dirty="0"/>
              <a:t>16.09.2025</a:t>
            </a:r>
            <a:endParaRPr lang="de-DE" noProof="0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858B75E5-1308-2B72-A951-57AC675A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de-DE" noProof="0" smtClean="0"/>
              <a:pPr rtl="0">
                <a:spcAft>
                  <a:spcPts val="600"/>
                </a:spcAft>
              </a:pPr>
              <a:t>1</a:t>
            </a:fld>
            <a:endParaRPr lang="de-DE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406E0-9A15-3BC0-BD3D-8192945CB6A8}"/>
              </a:ext>
            </a:extLst>
          </p:cNvPr>
          <p:cNvSpPr txBox="1"/>
          <p:nvPr/>
        </p:nvSpPr>
        <p:spPr>
          <a:xfrm>
            <a:off x="469011" y="4575182"/>
            <a:ext cx="319659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analysiert von: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sz="18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QuadraQuer</a:t>
            </a:r>
            <a:r>
              <a:rPr lang="de-DE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y</a:t>
            </a:r>
            <a:endParaRPr lang="de-DE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Bruno Melzer, Michael Rinke,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Patrick Krause &amp; Sarah Berg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DF347-6A1E-04E4-5D52-C62DA4917827}"/>
              </a:ext>
            </a:extLst>
          </p:cNvPr>
          <p:cNvSpPr txBox="1"/>
          <p:nvPr/>
        </p:nvSpPr>
        <p:spPr>
          <a:xfrm>
            <a:off x="6502528" y="5765189"/>
            <a:ext cx="3676649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Kreiskrankenhaus Gronau (Leine)</a:t>
            </a:r>
            <a:endParaRPr lang="de-DE" sz="1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E9CD84-1840-653D-C593-EC7A725C0BC8}"/>
              </a:ext>
            </a:extLst>
          </p:cNvPr>
          <p:cNvSpPr txBox="1"/>
          <p:nvPr/>
        </p:nvSpPr>
        <p:spPr>
          <a:xfrm>
            <a:off x="544674" y="1163993"/>
            <a:ext cx="3090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Einleitung</a:t>
            </a:r>
          </a:p>
        </p:txBody>
      </p:sp>
      <p:pic>
        <p:nvPicPr>
          <p:cNvPr id="13" name="Picture 12" descr="A line drawing of a doctor talking to a patient&#10;&#10;AI-generated content may be incorrect.">
            <a:extLst>
              <a:ext uri="{FF2B5EF4-FFF2-40B4-BE49-F238E27FC236}">
                <a16:creationId xmlns:a16="http://schemas.microsoft.com/office/drawing/2014/main" id="{7C0DFA5B-834A-7EBD-B673-D0FF92E98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9386"/>
            <a:ext cx="4180114" cy="2686050"/>
          </a:xfrm>
          <a:prstGeom prst="rect">
            <a:avLst/>
          </a:prstGeom>
        </p:spPr>
      </p:pic>
      <p:pic>
        <p:nvPicPr>
          <p:cNvPr id="3" name="Picture 2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BD0DB4EC-FB9C-552D-74BD-A7421B761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44A78A-EE08-E35D-A508-94D0EC1E2CF1}"/>
              </a:ext>
            </a:extLst>
          </p:cNvPr>
          <p:cNvSpPr txBox="1"/>
          <p:nvPr/>
        </p:nvSpPr>
        <p:spPr>
          <a:xfrm>
            <a:off x="4724349" y="1741965"/>
            <a:ext cx="65750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bg1"/>
                </a:solidFill>
              </a:rPr>
              <a:t>Einführung der elektronischen Patientenakte (</a:t>
            </a:r>
            <a:r>
              <a:rPr lang="de-DE" sz="2000" dirty="0" err="1">
                <a:solidFill>
                  <a:schemeClr val="bg1"/>
                </a:solidFill>
              </a:rPr>
              <a:t>ePA</a:t>
            </a:r>
            <a:r>
              <a:rPr lang="de-DE" sz="2000" dirty="0">
                <a:solidFill>
                  <a:schemeClr val="bg1"/>
                </a:solidFill>
              </a:rPr>
              <a:t>)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bg1"/>
                </a:solidFill>
              </a:rPr>
              <a:t>Ziel: Automatisierte Erkennung von Senioren-Patienten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bg1"/>
                </a:solidFill>
              </a:rPr>
              <a:t>Maßnahme: Senioren erhalten bereits beim Einchecken ein zweites Kissen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bg1"/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bg1"/>
                </a:solidFill>
              </a:rPr>
              <a:t>Auftrag: Entwicklung eines Vorhersagemodells durch das Data Analytics Team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732DB50-33D5-DC08-551C-A6BAFCD1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de-DE" noProof="0" smtClean="0"/>
              <a:pPr rtl="0">
                <a:spcAft>
                  <a:spcPts val="600"/>
                </a:spcAft>
              </a:pPr>
              <a:t>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8378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5331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e-DE" smtClean="0"/>
              <a:pPr rtl="0"/>
              <a:t>3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0E385A-40DC-1AE4-4C03-811B5129F62B}"/>
              </a:ext>
            </a:extLst>
          </p:cNvPr>
          <p:cNvSpPr txBox="1"/>
          <p:nvPr/>
        </p:nvSpPr>
        <p:spPr>
          <a:xfrm>
            <a:off x="815275" y="1007708"/>
            <a:ext cx="2549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 err="1">
                <a:solidFill>
                  <a:schemeClr val="bg1"/>
                </a:solidFill>
              </a:rPr>
              <a:t>Verfügbare</a:t>
            </a:r>
            <a:r>
              <a:rPr sz="3600" b="1" dirty="0">
                <a:solidFill>
                  <a:schemeClr val="bg1"/>
                </a:solidFill>
              </a:rPr>
              <a:t> Daten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6748A-7099-63E3-6D0F-338256E08998}"/>
              </a:ext>
            </a:extLst>
          </p:cNvPr>
          <p:cNvSpPr txBox="1"/>
          <p:nvPr/>
        </p:nvSpPr>
        <p:spPr>
          <a:xfrm>
            <a:off x="5950091" y="1534378"/>
            <a:ext cx="42968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2000" b="0" dirty="0">
                <a:solidFill>
                  <a:schemeClr val="bg1"/>
                </a:solidFill>
              </a:rPr>
              <a:t>Gesundheitsdaten von 2.278 Personen</a:t>
            </a:r>
            <a:endParaRPr sz="20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4C97E-261E-1CFF-C3C7-B7DA4415CE45}"/>
              </a:ext>
            </a:extLst>
          </p:cNvPr>
          <p:cNvSpPr txBox="1"/>
          <p:nvPr/>
        </p:nvSpPr>
        <p:spPr>
          <a:xfrm>
            <a:off x="6096000" y="5507273"/>
            <a:ext cx="3731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0" dirty="0">
                <a:solidFill>
                  <a:schemeClr val="bg1"/>
                </a:solidFill>
              </a:rPr>
              <a:t>Altersgruppe: </a:t>
            </a:r>
            <a:r>
              <a:rPr lang="de-DE" sz="2000" dirty="0">
                <a:solidFill>
                  <a:schemeClr val="bg1"/>
                </a:solidFill>
              </a:rPr>
              <a:t>„Adult“  &amp;  „Senior“</a:t>
            </a:r>
            <a:endParaRPr lang="de-DE" sz="2000" b="0" dirty="0">
              <a:solidFill>
                <a:schemeClr val="bg1"/>
              </a:solidFill>
            </a:endParaRPr>
          </a:p>
        </p:txBody>
      </p:sp>
      <p:pic>
        <p:nvPicPr>
          <p:cNvPr id="6" name="Picture 5" descr="A line drawing of a doctor talking to a patient&#10;&#10;AI-generated content may be incorrect.">
            <a:extLst>
              <a:ext uri="{FF2B5EF4-FFF2-40B4-BE49-F238E27FC236}">
                <a16:creationId xmlns:a16="http://schemas.microsoft.com/office/drawing/2014/main" id="{D379901A-1AD3-D2AD-48DF-632A32AF8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9386"/>
            <a:ext cx="4180114" cy="2686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DBCBAF-3487-3DB5-2F8C-4B42D02BA654}"/>
              </a:ext>
            </a:extLst>
          </p:cNvPr>
          <p:cNvSpPr txBox="1"/>
          <p:nvPr/>
        </p:nvSpPr>
        <p:spPr>
          <a:xfrm>
            <a:off x="5950091" y="3896390"/>
            <a:ext cx="5199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Altersgruppe, Geschlecht, körperliche Aktivität, BMI, Nüchternblutzucker, Diabetes bekannt, </a:t>
            </a:r>
          </a:p>
          <a:p>
            <a:r>
              <a:rPr lang="de-DE" dirty="0">
                <a:solidFill>
                  <a:schemeClr val="bg1"/>
                </a:solidFill>
              </a:rPr>
              <a:t>Glukose-Toleranz-Test, Insulinspiegel</a:t>
            </a:r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6972C68F-AD8F-62FE-06D7-CA3A441E7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phic 8" descr="Business Growth with solid fill">
            <a:extLst>
              <a:ext uri="{FF2B5EF4-FFF2-40B4-BE49-F238E27FC236}">
                <a16:creationId xmlns:a16="http://schemas.microsoft.com/office/drawing/2014/main" id="{E5F5204B-7C68-C868-F055-CB64627D6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1757" y="1277233"/>
            <a:ext cx="914400" cy="914400"/>
          </a:xfrm>
          <a:prstGeom prst="rect">
            <a:avLst/>
          </a:prstGeom>
        </p:spPr>
      </p:pic>
      <p:pic>
        <p:nvPicPr>
          <p:cNvPr id="11" name="Graphic 10" descr="Marker with solid fill">
            <a:extLst>
              <a:ext uri="{FF2B5EF4-FFF2-40B4-BE49-F238E27FC236}">
                <a16:creationId xmlns:a16="http://schemas.microsoft.com/office/drawing/2014/main" id="{443C934F-D617-6583-CA7C-9849303C0F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1757" y="251460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EE299F-5739-967F-F74F-AB024598C955}"/>
              </a:ext>
            </a:extLst>
          </p:cNvPr>
          <p:cNvSpPr txBox="1"/>
          <p:nvPr/>
        </p:nvSpPr>
        <p:spPr>
          <a:xfrm>
            <a:off x="5950091" y="2849276"/>
            <a:ext cx="3203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0" dirty="0">
                <a:solidFill>
                  <a:schemeClr val="bg1"/>
                </a:solidFill>
              </a:rPr>
              <a:t>United States </a:t>
            </a:r>
            <a:r>
              <a:rPr lang="de-DE" sz="2000" b="0" dirty="0" err="1">
                <a:solidFill>
                  <a:schemeClr val="bg1"/>
                </a:solidFill>
              </a:rPr>
              <a:t>of</a:t>
            </a:r>
            <a:r>
              <a:rPr lang="de-DE" sz="2000" b="0" dirty="0">
                <a:solidFill>
                  <a:schemeClr val="bg1"/>
                </a:solidFill>
              </a:rPr>
              <a:t> </a:t>
            </a:r>
            <a:r>
              <a:rPr lang="de-DE" sz="2000" b="0" dirty="0" err="1">
                <a:solidFill>
                  <a:schemeClr val="bg1"/>
                </a:solidFill>
              </a:rPr>
              <a:t>America</a:t>
            </a:r>
            <a:endParaRPr lang="de-DE" sz="2000" b="0" dirty="0"/>
          </a:p>
        </p:txBody>
      </p:sp>
      <p:pic>
        <p:nvPicPr>
          <p:cNvPr id="17" name="Graphic 16" descr="Table with solid fill">
            <a:extLst>
              <a:ext uri="{FF2B5EF4-FFF2-40B4-BE49-F238E27FC236}">
                <a16:creationId xmlns:a16="http://schemas.microsoft.com/office/drawing/2014/main" id="{0F22660C-CC52-71E6-D1E9-9E8CCC5AAB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1757" y="3896390"/>
            <a:ext cx="914400" cy="914400"/>
          </a:xfrm>
          <a:prstGeom prst="rect">
            <a:avLst/>
          </a:prstGeom>
        </p:spPr>
      </p:pic>
      <p:pic>
        <p:nvPicPr>
          <p:cNvPr id="19" name="Graphic 18" descr="Bullseye with solid fill">
            <a:extLst>
              <a:ext uri="{FF2B5EF4-FFF2-40B4-BE49-F238E27FC236}">
                <a16:creationId xmlns:a16="http://schemas.microsoft.com/office/drawing/2014/main" id="{1DB06647-9A35-4A23-783F-6777781066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1757" y="52781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C36F-3F6C-C848-0451-52BE0DF5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332747"/>
            <a:ext cx="3870960" cy="1325563"/>
          </a:xfrm>
        </p:spPr>
        <p:txBody>
          <a:bodyPr>
            <a:normAutofit/>
          </a:bodyPr>
          <a:lstStyle/>
          <a:p>
            <a:r>
              <a:rPr lang="de-DE" sz="5400" dirty="0"/>
              <a:t>User Stories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01337-32C4-E692-FB76-8FB06E6BDA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325" y="4671639"/>
            <a:ext cx="2105186" cy="365126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Pflegepersonal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8FB68-1CE6-456E-5E58-182DD00A59B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20619" y="4671639"/>
            <a:ext cx="2105186" cy="365126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Datenanalyst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6124D1-079F-8C71-CEB3-554CC6382FC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779849" y="4671758"/>
            <a:ext cx="1476375" cy="914280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Abteilung</a:t>
            </a:r>
          </a:p>
          <a:p>
            <a:r>
              <a:rPr lang="de-DE" dirty="0">
                <a:solidFill>
                  <a:schemeClr val="bg1"/>
                </a:solidFill>
              </a:rPr>
              <a:t>Age </a:t>
            </a:r>
            <a:r>
              <a:rPr lang="de-DE" dirty="0" err="1">
                <a:solidFill>
                  <a:schemeClr val="bg1"/>
                </a:solidFill>
              </a:rPr>
              <a:t>against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Machine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38167E-2701-4FFF-A77E-19C72A55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311207" y="4671639"/>
            <a:ext cx="2105186" cy="365126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Krankenhausleitung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6CA2D0-CCE8-F645-BB22-BABE6EB4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4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15" name="Picture 1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7DC798E4-F18C-7E96-4B69-529F1D40A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Content Placeholder 20" descr="Doctor male with solid fill">
            <a:extLst>
              <a:ext uri="{FF2B5EF4-FFF2-40B4-BE49-F238E27FC236}">
                <a16:creationId xmlns:a16="http://schemas.microsoft.com/office/drawing/2014/main" id="{0E0B8504-ED68-6174-6E7E-79B42C622F6A}"/>
              </a:ext>
            </a:extLst>
          </p:cNvPr>
          <p:cNvPicPr>
            <a:picLocks noGrp="1" noChangeAspect="1"/>
          </p:cNvPicPr>
          <p:nvPr>
            <p:ph type="clipArt" sz="quarter" idx="48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05787" y="3192544"/>
            <a:ext cx="1278294" cy="1278294"/>
          </a:xfrm>
        </p:spPr>
      </p:pic>
      <p:pic>
        <p:nvPicPr>
          <p:cNvPr id="17" name="Content Placeholder 20" descr="Research with solid fill">
            <a:extLst>
              <a:ext uri="{FF2B5EF4-FFF2-40B4-BE49-F238E27FC236}">
                <a16:creationId xmlns:a16="http://schemas.microsoft.com/office/drawing/2014/main" id="{F2E02156-5C67-C2F0-1F7B-D4EB66DC29BE}"/>
              </a:ext>
            </a:extLst>
          </p:cNvPr>
          <p:cNvPicPr>
            <a:picLocks noGrp="1" noChangeAspect="1"/>
          </p:cNvPicPr>
          <p:nvPr>
            <p:ph type="clipArt" sz="quarter" idx="49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82228" y="3192544"/>
            <a:ext cx="1381967" cy="1381967"/>
          </a:xfrm>
          <a:prstGeom prst="rect">
            <a:avLst/>
          </a:prstGeom>
        </p:spPr>
      </p:pic>
      <p:pic>
        <p:nvPicPr>
          <p:cNvPr id="18" name="Content Placeholder 20" descr="Inpatient with solid fill">
            <a:extLst>
              <a:ext uri="{FF2B5EF4-FFF2-40B4-BE49-F238E27FC236}">
                <a16:creationId xmlns:a16="http://schemas.microsoft.com/office/drawing/2014/main" id="{CBF567EA-59B4-9B31-CD32-CEC1A9FED348}"/>
              </a:ext>
            </a:extLst>
          </p:cNvPr>
          <p:cNvPicPr>
            <a:picLocks noGrp="1" noChangeAspect="1"/>
          </p:cNvPicPr>
          <p:nvPr>
            <p:ph type="clipArt" sz="quarter" idx="50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827522" y="3192544"/>
            <a:ext cx="1381967" cy="1381967"/>
          </a:xfrm>
          <a:prstGeom prst="rect">
            <a:avLst/>
          </a:prstGeom>
        </p:spPr>
      </p:pic>
      <p:pic>
        <p:nvPicPr>
          <p:cNvPr id="19" name="Content Placeholder 20" descr="Hospital with solid fill">
            <a:extLst>
              <a:ext uri="{FF2B5EF4-FFF2-40B4-BE49-F238E27FC236}">
                <a16:creationId xmlns:a16="http://schemas.microsoft.com/office/drawing/2014/main" id="{0DC57939-CD84-DB43-5A78-2ED44275FE63}"/>
              </a:ext>
            </a:extLst>
          </p:cNvPr>
          <p:cNvPicPr>
            <a:picLocks noGrp="1" noChangeAspect="1"/>
          </p:cNvPicPr>
          <p:nvPr>
            <p:ph type="clipArt" sz="quarter" idx="51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608603" y="3161246"/>
            <a:ext cx="1510393" cy="151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48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AD877E6-7152-B52D-AB03-4FD56646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36525"/>
            <a:ext cx="5684520" cy="739779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Pflegepersonal</a:t>
            </a:r>
            <a:endParaRPr lang="de-DE" dirty="0"/>
          </a:p>
        </p:txBody>
      </p:sp>
      <p:pic>
        <p:nvPicPr>
          <p:cNvPr id="21" name="Content Placeholder 20" descr="Doctor male with solid fill">
            <a:extLst>
              <a:ext uri="{FF2B5EF4-FFF2-40B4-BE49-F238E27FC236}">
                <a16:creationId xmlns:a16="http://schemas.microsoft.com/office/drawing/2014/main" id="{377720C8-1D63-D042-54A7-E1A199B6F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8173" y="2719278"/>
            <a:ext cx="2245567" cy="2245567"/>
          </a:xfr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36883F3-0FA1-667A-2EF9-668FD1E5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5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19" name="Picture 18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5B4290EE-B215-9A2A-9069-10A393197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" name="Thought Bubble: Cloud 21">
            <a:extLst>
              <a:ext uri="{FF2B5EF4-FFF2-40B4-BE49-F238E27FC236}">
                <a16:creationId xmlns:a16="http://schemas.microsoft.com/office/drawing/2014/main" id="{353050F8-42C4-E8A8-8C3B-82599383F078}"/>
              </a:ext>
            </a:extLst>
          </p:cNvPr>
          <p:cNvSpPr/>
          <p:nvPr/>
        </p:nvSpPr>
        <p:spPr>
          <a:xfrm>
            <a:off x="4376057" y="2306216"/>
            <a:ext cx="4234543" cy="2245567"/>
          </a:xfrm>
          <a:prstGeom prst="cloudCallout">
            <a:avLst>
              <a:gd name="adj1" fmla="val -85394"/>
              <a:gd name="adj2" fmla="val -56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de-DE" dirty="0"/>
            </a:br>
            <a:r>
              <a:rPr lang="de-DE" sz="2800" dirty="0"/>
              <a:t>Brauche ich zwei Kissen für dieses Bett?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6008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FDA4A-4AA5-9601-BEAC-B6A4C883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78384D4-296F-3E2E-C1C9-E0855CC3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36525"/>
            <a:ext cx="5684520" cy="739779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Datenanalyst</a:t>
            </a:r>
            <a:endParaRPr lang="de-D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D7489A0-85F8-EA62-C2E9-038C74D9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6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3" name="Picture 2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BB84AEE0-C6D1-81A8-4F8D-4B45A07A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Content Placeholder 20" descr="Research with solid fill">
            <a:extLst>
              <a:ext uri="{FF2B5EF4-FFF2-40B4-BE49-F238E27FC236}">
                <a16:creationId xmlns:a16="http://schemas.microsoft.com/office/drawing/2014/main" id="{18EF087E-69B6-ED77-18BE-C78F9FF67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8173" y="2719278"/>
            <a:ext cx="2245567" cy="2245567"/>
          </a:xfrm>
          <a:prstGeom prst="rect">
            <a:avLst/>
          </a:prstGeom>
        </p:spPr>
      </p:pic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DCF3E8F1-7A54-4A64-6A49-FF59BDB061CB}"/>
              </a:ext>
            </a:extLst>
          </p:cNvPr>
          <p:cNvSpPr/>
          <p:nvPr/>
        </p:nvSpPr>
        <p:spPr>
          <a:xfrm>
            <a:off x="4236098" y="2575249"/>
            <a:ext cx="4273420" cy="1950098"/>
          </a:xfrm>
          <a:prstGeom prst="wedgeRoundRectCallout">
            <a:avLst>
              <a:gd name="adj1" fmla="val -75211"/>
              <a:gd name="adj2" fmla="val 2087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Ich möchte ein Vorhersagemodell für die Altersgruppe entwickeln!</a:t>
            </a:r>
          </a:p>
        </p:txBody>
      </p:sp>
    </p:spTree>
    <p:extLst>
      <p:ext uri="{BB962C8B-B14F-4D97-AF65-F5344CB8AC3E}">
        <p14:creationId xmlns:p14="http://schemas.microsoft.com/office/powerpoint/2010/main" val="114972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DD3E1-173A-30E2-F305-06AEE3FB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FEE1847-1CA0-D0A4-6035-26BCF6DC5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968" y="136525"/>
            <a:ext cx="8727948" cy="739779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Abteilung – Age </a:t>
            </a:r>
            <a:r>
              <a:rPr lang="de-DE" dirty="0" err="1">
                <a:solidFill>
                  <a:schemeClr val="bg1"/>
                </a:solidFill>
              </a:rPr>
              <a:t>against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Machine</a:t>
            </a:r>
            <a:endParaRPr lang="de-D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94A68B6-01FE-6A19-A438-0B6AF1F2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7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3" name="Picture 2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72A1B23C-5EE0-6321-065B-6AA8AF8F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Content Placeholder 20" descr="Inpatient with solid fill">
            <a:extLst>
              <a:ext uri="{FF2B5EF4-FFF2-40B4-BE49-F238E27FC236}">
                <a16:creationId xmlns:a16="http://schemas.microsoft.com/office/drawing/2014/main" id="{48507AA8-1A3F-F843-E547-58126B5A8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8173" y="2719278"/>
            <a:ext cx="2245567" cy="2245567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6581C2E-3868-E92C-D0EA-C2BE40258AE7}"/>
              </a:ext>
            </a:extLst>
          </p:cNvPr>
          <p:cNvSpPr/>
          <p:nvPr/>
        </p:nvSpPr>
        <p:spPr>
          <a:xfrm>
            <a:off x="4664842" y="2635821"/>
            <a:ext cx="4273420" cy="1950098"/>
          </a:xfrm>
          <a:prstGeom prst="wedgeRoundRectCallout">
            <a:avLst>
              <a:gd name="adj1" fmla="val -75211"/>
              <a:gd name="adj2" fmla="val 2087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bg1"/>
                </a:solidFill>
              </a:rPr>
              <a:t>Wir brauchen ein übersichtliches und bedienerfreundliches Dashboard!</a:t>
            </a:r>
          </a:p>
        </p:txBody>
      </p:sp>
    </p:spTree>
    <p:extLst>
      <p:ext uri="{BB962C8B-B14F-4D97-AF65-F5344CB8AC3E}">
        <p14:creationId xmlns:p14="http://schemas.microsoft.com/office/powerpoint/2010/main" val="304587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EDBFE-D82F-4635-423B-49EF0DB4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DA1448C-44FF-F1EB-6C96-F97A4A4C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36525"/>
            <a:ext cx="5684520" cy="739779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Krankenhausleitung</a:t>
            </a:r>
            <a:endParaRPr lang="de-D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BF65D1-D25E-FB6A-0AD0-2AA1E8B3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8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3" name="Picture 2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6741A4EF-95E4-D864-0350-1C83A12E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Content Placeholder 20" descr="Hospital with solid fill">
            <a:extLst>
              <a:ext uri="{FF2B5EF4-FFF2-40B4-BE49-F238E27FC236}">
                <a16:creationId xmlns:a16="http://schemas.microsoft.com/office/drawing/2014/main" id="{F78797EB-E230-1B09-D98F-B164208C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8173" y="2719278"/>
            <a:ext cx="2245567" cy="2245567"/>
          </a:xfrm>
          <a:prstGeom prst="rect">
            <a:avLst/>
          </a:prstGeom>
        </p:spPr>
      </p:pic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811E7B40-CD2E-AE76-EFE1-EF69CE607DB6}"/>
              </a:ext>
            </a:extLst>
          </p:cNvPr>
          <p:cNvSpPr/>
          <p:nvPr/>
        </p:nvSpPr>
        <p:spPr>
          <a:xfrm>
            <a:off x="5085184" y="2408853"/>
            <a:ext cx="4234543" cy="2245567"/>
          </a:xfrm>
          <a:prstGeom prst="cloudCallout">
            <a:avLst>
              <a:gd name="adj1" fmla="val -85394"/>
              <a:gd name="adj2" fmla="val -56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Wie können meine Mitarbeiter effizienter arbeiten?</a:t>
            </a:r>
          </a:p>
        </p:txBody>
      </p:sp>
    </p:spTree>
    <p:extLst>
      <p:ext uri="{BB962C8B-B14F-4D97-AF65-F5344CB8AC3E}">
        <p14:creationId xmlns:p14="http://schemas.microsoft.com/office/powerpoint/2010/main" val="1272180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6387-E3E0-126B-988E-30E2CFB1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B6FA2-1F1A-4FE6-12A0-A97FE2F236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48132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EFA112-C799-314D-F759-6E8EAA957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762" y="361028"/>
            <a:ext cx="7618476" cy="856061"/>
          </a:xfrm>
        </p:spPr>
        <p:txBody>
          <a:bodyPr rtlCol="0">
            <a:normAutofit fontScale="90000"/>
          </a:bodyPr>
          <a:lstStyle/>
          <a:p>
            <a:pPr rtl="0"/>
            <a:r>
              <a:rPr lang="de-DE" dirty="0">
                <a:solidFill>
                  <a:schemeClr val="bg1"/>
                </a:solidFill>
              </a:rPr>
              <a:t>Low-Hanging-Fruit-Matrix</a:t>
            </a:r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F1278BDE-68D2-AA08-FBDF-D1B7A655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972DF-843B-E833-4E01-0B0D608D857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de-DE"/>
            </a:defPPr>
            <a:lvl1pPr algn="r"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48085-F51E-C4B6-A05B-6FE6EAA06ED1}"/>
              </a:ext>
            </a:extLst>
          </p:cNvPr>
          <p:cNvSpPr/>
          <p:nvPr/>
        </p:nvSpPr>
        <p:spPr>
          <a:xfrm>
            <a:off x="6254496" y="2553542"/>
            <a:ext cx="2514600" cy="1435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Vorhersagemodell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EE440B-1CA8-163C-E1E7-71F82ED94813}"/>
              </a:ext>
            </a:extLst>
          </p:cNvPr>
          <p:cNvSpPr/>
          <p:nvPr/>
        </p:nvSpPr>
        <p:spPr>
          <a:xfrm>
            <a:off x="3739896" y="2553542"/>
            <a:ext cx="2514600" cy="14356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Patientenprofil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255D40-0A13-5600-6C9C-A2AB29011381}"/>
              </a:ext>
            </a:extLst>
          </p:cNvPr>
          <p:cNvSpPr/>
          <p:nvPr/>
        </p:nvSpPr>
        <p:spPr>
          <a:xfrm>
            <a:off x="3739896" y="3989150"/>
            <a:ext cx="2514600" cy="1435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Überarbeitung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7B45B6-A967-F7FC-59A9-385ED2795070}"/>
              </a:ext>
            </a:extLst>
          </p:cNvPr>
          <p:cNvSpPr/>
          <p:nvPr/>
        </p:nvSpPr>
        <p:spPr>
          <a:xfrm>
            <a:off x="6254496" y="3989150"/>
            <a:ext cx="2514600" cy="1435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Zusätzliche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Datenbeschaffung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9F7F2576-5177-6696-6D87-C0D4FF34E6BA}"/>
              </a:ext>
            </a:extLst>
          </p:cNvPr>
          <p:cNvSpPr/>
          <p:nvPr/>
        </p:nvSpPr>
        <p:spPr>
          <a:xfrm>
            <a:off x="2852010" y="1894782"/>
            <a:ext cx="995934" cy="3647602"/>
          </a:xfrm>
          <a:prstGeom prst="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dirty="0" err="1">
                <a:solidFill>
                  <a:schemeClr val="accent5"/>
                </a:solidFill>
              </a:rPr>
              <a:t>i</a:t>
            </a:r>
            <a:r>
              <a:rPr lang="de-DE" dirty="0" err="1"/>
              <a:t>Ertrag</a:t>
            </a:r>
            <a:r>
              <a:rPr lang="de-DE" dirty="0"/>
              <a:t>	            </a:t>
            </a:r>
            <a:r>
              <a:rPr lang="de-DE" i="1" dirty="0"/>
              <a:t>Hoch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688FAFE-5AB8-3C30-05C0-BFA27312E0EF}"/>
              </a:ext>
            </a:extLst>
          </p:cNvPr>
          <p:cNvSpPr/>
          <p:nvPr/>
        </p:nvSpPr>
        <p:spPr>
          <a:xfrm>
            <a:off x="3097763" y="5314176"/>
            <a:ext cx="6444871" cy="923544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/>
              <a:t>Niedrig</a:t>
            </a:r>
            <a:r>
              <a:rPr lang="de-DE" dirty="0"/>
              <a:t>			Aufwand			</a:t>
            </a:r>
            <a:r>
              <a:rPr lang="de-DE" i="1" dirty="0"/>
              <a:t>Hoch</a:t>
            </a:r>
          </a:p>
        </p:txBody>
      </p:sp>
    </p:spTree>
    <p:extLst>
      <p:ext uri="{BB962C8B-B14F-4D97-AF65-F5344CB8AC3E}">
        <p14:creationId xmlns:p14="http://schemas.microsoft.com/office/powerpoint/2010/main" val="2972486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DBF0-08B2-F83E-70C8-70CB30FE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AEFD-E7B1-5023-836F-7B1374AF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616" y="151924"/>
            <a:ext cx="6361938" cy="729515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Explorative Datenanalyse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1C88-E4FA-06D2-34D1-19351A42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10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15A6EB6F-AC1B-95F4-AFC0-F54B89AF7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6810E691-E9CB-7B87-51A4-67904D542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0D29F6-BD8B-FE66-0F8D-02496DD8A14A}"/>
              </a:ext>
            </a:extLst>
          </p:cNvPr>
          <p:cNvSpPr txBox="1"/>
          <p:nvPr/>
        </p:nvSpPr>
        <p:spPr>
          <a:xfrm>
            <a:off x="3169539" y="2381920"/>
            <a:ext cx="5308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 err="1">
                <a:solidFill>
                  <a:schemeClr val="bg1"/>
                </a:solidFill>
              </a:rPr>
              <a:t>Nominale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Spalten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sind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nicht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binär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04977-E710-2213-B2E4-DC6CA63C1C3B}"/>
              </a:ext>
            </a:extLst>
          </p:cNvPr>
          <p:cNvSpPr txBox="1"/>
          <p:nvPr/>
        </p:nvSpPr>
        <p:spPr>
          <a:xfrm>
            <a:off x="3495294" y="4405621"/>
            <a:ext cx="46565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 err="1">
                <a:solidFill>
                  <a:schemeClr val="bg1"/>
                </a:solidFill>
              </a:rPr>
              <a:t>Laborwerte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nicht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  <a:r>
              <a:rPr lang="en-GB" sz="2800" dirty="0" err="1">
                <a:solidFill>
                  <a:schemeClr val="bg1"/>
                </a:solidFill>
              </a:rPr>
              <a:t>vergleichbar</a:t>
            </a:r>
            <a:endParaRPr lang="en-GB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800" dirty="0" err="1">
                <a:solidFill>
                  <a:schemeClr val="bg1"/>
                </a:solidFill>
              </a:rPr>
              <a:t>Normalisierung</a:t>
            </a:r>
            <a:endParaRPr lang="de-DE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474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58F7-83A8-6441-024D-2E4E844D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670D-CBEA-739E-13D5-6DD86B74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446" y="151924"/>
            <a:ext cx="5817108" cy="729515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Suche nach Ausreißern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93F7B-A920-E0A6-6B1B-273826CD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11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93C2E311-7DFC-5CC4-F33C-BBC9EDF1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4EECCB41-270F-CDED-B02E-7F1CC22298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82"/>
          <a:stretch>
            <a:fillRect/>
          </a:stretch>
        </p:blipFill>
        <p:spPr>
          <a:xfrm>
            <a:off x="2385107" y="1355100"/>
            <a:ext cx="7421786" cy="5283432"/>
          </a:xfrm>
          <a:prstGeom prst="rect">
            <a:avLst/>
          </a:prstGeom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72A98CBB-D7F0-0A2B-0490-316203F29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5211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005E-CCD3-B2B5-BC10-77A488EF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345" y="136525"/>
            <a:ext cx="8179308" cy="729515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Zusammenhänge und Verteilung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C715-51CC-DDEB-564B-1203F3E2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12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37F142FA-A99D-0982-9FE3-653CBD6B2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7687FF-F307-5FE8-CA8C-A3D6747F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8850" y="1262002"/>
            <a:ext cx="5934299" cy="5394818"/>
          </a:xfrm>
          <a:prstGeom prst="rect">
            <a:avLst/>
          </a:prstGeom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CA892212-5FBE-0B11-588E-6B487EF2B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55671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97B4-181B-355D-F01D-93BA6CB1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41DE-5D7A-6BD8-3F7D-DDDDC2EA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993" y="151924"/>
            <a:ext cx="6954012" cy="729515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Mögliche Einflussfaktoren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DF77-9E61-F09A-07AB-5B736D35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13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BED36AD4-3589-7DCA-EFA0-36B782CB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2CFBCD-4E14-6D01-27BB-FB17F7016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99454" y="1262002"/>
            <a:ext cx="7193090" cy="5394818"/>
          </a:xfrm>
          <a:prstGeom prst="rect">
            <a:avLst/>
          </a:prstGeom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F9B18A73-C0F9-C860-6312-816CAE17F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38570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E0CE-10D0-22F0-8914-183567A3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02124-2C69-E03C-37DD-C6D019D5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963" y="147142"/>
            <a:ext cx="7434072" cy="729515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Mögliche Einflussfaktoren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EA51-D4FF-4CDE-0E30-13A82C1A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14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B3B540DB-BD68-D2B3-08B3-30397E0A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7FF880-C64A-AE21-7513-714E91998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205" y="2216425"/>
            <a:ext cx="10707589" cy="3488635"/>
          </a:xfrm>
          <a:prstGeom prst="rect">
            <a:avLst/>
          </a:prstGeom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E94E943C-9F03-E800-60D4-40A4E787D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19478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F4AF-85EF-2F9F-8034-8FF44517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14EC-6605-409B-5FBF-226790AD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674" y="151924"/>
            <a:ext cx="6377940" cy="729515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Fehlerrate der Modelle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7A7F3-0150-3D26-98F8-1E63945E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15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23534D9B-9F69-FA3B-46FD-E516E5DA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368594FF-97CE-1F88-5281-699803296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5" y="1780309"/>
            <a:ext cx="5469809" cy="4102357"/>
          </a:xfrm>
          <a:prstGeom prst="rect">
            <a:avLst/>
          </a:prstGeom>
        </p:spPr>
      </p:pic>
      <p:pic>
        <p:nvPicPr>
          <p:cNvPr id="9" name="Picture 8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8EE1FAAA-5954-F16F-5CAD-7B6EEBCAF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358" y="1780309"/>
            <a:ext cx="5469809" cy="4102357"/>
          </a:xfrm>
          <a:prstGeom prst="rect">
            <a:avLst/>
          </a:prstGeom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E56F7125-2DC5-6C15-4A4B-411ECB919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53802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B854-08BF-81AC-2AA5-8B658C4B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C9F5-075D-D813-F21D-386437F3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36525"/>
            <a:ext cx="5684520" cy="729515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</a:t>
            </a:r>
            <a:r>
              <a:rPr lang="de-DE" dirty="0" err="1">
                <a:solidFill>
                  <a:schemeClr val="bg1"/>
                </a:solidFill>
              </a:rPr>
              <a:t>valuationsmetriken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8BA5E-7833-AB17-619B-D28EB052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16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A684D09F-6F16-AE53-4611-532E27822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61A77-1FFE-6CED-7CD1-40FD19521A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3355" y="1780309"/>
            <a:ext cx="5469809" cy="4102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EC9F6-E595-1437-A2F7-DF60F9B9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835" y="1780309"/>
            <a:ext cx="5469809" cy="4102356"/>
          </a:xfrm>
          <a:prstGeom prst="rect">
            <a:avLst/>
          </a:prstGeom>
        </p:spPr>
      </p:pic>
      <p:pic>
        <p:nvPicPr>
          <p:cNvPr id="3" name="Picture 2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8CE4F4D8-1F2D-A370-830B-BD62D5492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91789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C1314-E299-4A18-CC8D-18C11775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D8AC-5EF8-7177-B33F-09F42AD1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36525"/>
            <a:ext cx="5684520" cy="729515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Zwischenergebnis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061CE-84BF-68D4-3442-80287FAC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17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7" name="Picture 6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D06C7EBE-E179-472A-81C7-BFBBB2874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C2254F-70CF-BC3C-49B6-E265CBBB1C2F}"/>
              </a:ext>
            </a:extLst>
          </p:cNvPr>
          <p:cNvSpPr txBox="1"/>
          <p:nvPr/>
        </p:nvSpPr>
        <p:spPr>
          <a:xfrm>
            <a:off x="3413379" y="1815653"/>
            <a:ext cx="53652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Modelle </a:t>
            </a:r>
            <a:r>
              <a:rPr lang="en-GB" sz="3200" dirty="0" err="1">
                <a:solidFill>
                  <a:schemeClr val="bg1"/>
                </a:solidFill>
              </a:rPr>
              <a:t>mit</a:t>
            </a:r>
            <a:r>
              <a:rPr lang="en-GB" sz="3200" dirty="0">
                <a:solidFill>
                  <a:schemeClr val="bg1"/>
                </a:solidFill>
              </a:rPr>
              <a:t> 85% </a:t>
            </a:r>
            <a:r>
              <a:rPr lang="en-GB" sz="3200" dirty="0" err="1">
                <a:solidFill>
                  <a:schemeClr val="bg1"/>
                </a:solidFill>
              </a:rPr>
              <a:t>Genauigkeit</a:t>
            </a:r>
            <a:endParaRPr lang="en-GB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 err="1">
                <a:solidFill>
                  <a:schemeClr val="bg1"/>
                </a:solidFill>
              </a:rPr>
              <a:t>Nicht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dirty="0" err="1">
                <a:solidFill>
                  <a:schemeClr val="bg1"/>
                </a:solidFill>
              </a:rPr>
              <a:t>besser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dirty="0" err="1">
                <a:solidFill>
                  <a:schemeClr val="bg1"/>
                </a:solidFill>
              </a:rPr>
              <a:t>als</a:t>
            </a:r>
            <a:r>
              <a:rPr lang="en-GB" sz="3200" dirty="0">
                <a:solidFill>
                  <a:schemeClr val="bg1"/>
                </a:solidFill>
              </a:rPr>
              <a:t> die Baseline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C52DD-C12B-0D07-8596-FFF5736F16C9}"/>
              </a:ext>
            </a:extLst>
          </p:cNvPr>
          <p:cNvSpPr txBox="1"/>
          <p:nvPr/>
        </p:nvSpPr>
        <p:spPr>
          <a:xfrm>
            <a:off x="3059430" y="3842485"/>
            <a:ext cx="6073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Senior </a:t>
            </a:r>
            <a:r>
              <a:rPr lang="en-GB" sz="3200" dirty="0" err="1">
                <a:solidFill>
                  <a:schemeClr val="bg1"/>
                </a:solidFill>
              </a:rPr>
              <a:t>unmöglich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dirty="0" err="1">
                <a:solidFill>
                  <a:schemeClr val="bg1"/>
                </a:solidFill>
              </a:rPr>
              <a:t>zu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dirty="0" err="1">
                <a:solidFill>
                  <a:schemeClr val="bg1"/>
                </a:solidFill>
              </a:rPr>
              <a:t>klassifizieren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51254-A310-9184-A8C4-131BF80F163E}"/>
              </a:ext>
            </a:extLst>
          </p:cNvPr>
          <p:cNvSpPr txBox="1"/>
          <p:nvPr/>
        </p:nvSpPr>
        <p:spPr>
          <a:xfrm>
            <a:off x="2038545" y="5212090"/>
            <a:ext cx="8114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Erste </a:t>
            </a:r>
            <a:r>
              <a:rPr lang="en-GB" sz="3200" dirty="0" err="1">
                <a:solidFill>
                  <a:schemeClr val="bg1"/>
                </a:solidFill>
              </a:rPr>
              <a:t>Hinweise</a:t>
            </a:r>
            <a:r>
              <a:rPr lang="en-GB" sz="3200" dirty="0">
                <a:solidFill>
                  <a:schemeClr val="bg1"/>
                </a:solidFill>
              </a:rPr>
              <a:t> auf </a:t>
            </a:r>
            <a:r>
              <a:rPr lang="en-GB" sz="3200" dirty="0" err="1">
                <a:solidFill>
                  <a:schemeClr val="bg1"/>
                </a:solidFill>
              </a:rPr>
              <a:t>wichtigste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3200" dirty="0" err="1">
                <a:solidFill>
                  <a:schemeClr val="bg1"/>
                </a:solidFill>
              </a:rPr>
              <a:t>Einflussfaktoren</a:t>
            </a:r>
            <a:endParaRPr lang="de-DE" sz="3200" dirty="0">
              <a:solidFill>
                <a:schemeClr val="bg1"/>
              </a:solidFill>
            </a:endParaRPr>
          </a:p>
        </p:txBody>
      </p:sp>
      <p:pic>
        <p:nvPicPr>
          <p:cNvPr id="4" name="Picture 3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0F480328-E76A-46C4-BA78-3944B0A11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88" y="83555"/>
            <a:ext cx="929872" cy="929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8693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42BBB-BD75-856A-70DA-3EFE0586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83068"/>
            <a:ext cx="5684520" cy="675349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Übergabe an POWER BI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90880-E26C-448A-E29E-10C520D8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e-DE" noProof="0" smtClean="0">
                <a:solidFill>
                  <a:srgbClr val="00B0F0"/>
                </a:solidFill>
              </a:rPr>
              <a:pPr rtl="0"/>
              <a:t>18</a:t>
            </a:fld>
            <a:endParaRPr lang="de-DE" noProof="0" dirty="0">
              <a:solidFill>
                <a:srgbClr val="00B0F0"/>
              </a:solidFill>
            </a:endParaRPr>
          </a:p>
        </p:txBody>
      </p:sp>
      <p:pic>
        <p:nvPicPr>
          <p:cNvPr id="9" name="Picture 8" descr="A yellow bar chart with black text&#10;&#10;AI-generated content may be incorrect.">
            <a:extLst>
              <a:ext uri="{FF2B5EF4-FFF2-40B4-BE49-F238E27FC236}">
                <a16:creationId xmlns:a16="http://schemas.microsoft.com/office/drawing/2014/main" id="{F083438B-780E-1920-9DE4-CFCAD86F9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580" y="2830940"/>
            <a:ext cx="2143125" cy="2143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yellow triangle with black text&#10;&#10;AI-generated content may be incorrect.">
            <a:extLst>
              <a:ext uri="{FF2B5EF4-FFF2-40B4-BE49-F238E27FC236}">
                <a16:creationId xmlns:a16="http://schemas.microsoft.com/office/drawing/2014/main" id="{752FBF89-822E-C235-A749-74CEE2D6F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295" y="2830940"/>
            <a:ext cx="2143125" cy="2143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184FD691-0F0B-CF80-9B2E-AB4144838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2173" y="2988102"/>
            <a:ext cx="914400" cy="9144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C60DEE5-4182-E8A1-1849-A461FCB0804F}"/>
              </a:ext>
            </a:extLst>
          </p:cNvPr>
          <p:cNvSpPr/>
          <p:nvPr/>
        </p:nvSpPr>
        <p:spPr>
          <a:xfrm>
            <a:off x="4666488" y="3813048"/>
            <a:ext cx="2816352" cy="6753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Finale Daten</a:t>
            </a:r>
          </a:p>
        </p:txBody>
      </p:sp>
      <p:pic>
        <p:nvPicPr>
          <p:cNvPr id="15" name="Picture 1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08309C35-F2E1-244F-8D7C-3106753BD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1281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884541"/>
            <a:ext cx="2359152" cy="1088917"/>
          </a:xfrm>
        </p:spPr>
        <p:txBody>
          <a:bodyPr rtlCol="0">
            <a:normAutofit/>
          </a:bodyPr>
          <a:lstStyle/>
          <a:p>
            <a:pPr rtl="0"/>
            <a:r>
              <a:rPr lang="de-DE" sz="7200" dirty="0"/>
              <a:t>Fazit</a:t>
            </a:r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A8584F9C-94E9-4516-DFD8-241C85EBF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CE229-0DD4-8F3B-C962-A374DA15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de-DE" noProof="0" smtClean="0"/>
              <a:pPr rtl="0">
                <a:spcAft>
                  <a:spcPts val="600"/>
                </a:spcAft>
              </a:pPr>
              <a:t>19</a:t>
            </a:fld>
            <a:endParaRPr lang="de-DE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D9B5E5-4E70-B321-BC66-6B242694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732" y="2172024"/>
            <a:ext cx="4516782" cy="67316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3200" b="1" dirty="0"/>
              <a:t>Zentrale Ergebnisse: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82D6E-814F-CA0D-2878-E3B3BF62DA39}"/>
              </a:ext>
            </a:extLst>
          </p:cNvPr>
          <p:cNvSpPr txBox="1"/>
          <p:nvPr/>
        </p:nvSpPr>
        <p:spPr>
          <a:xfrm>
            <a:off x="5109084" y="2937526"/>
            <a:ext cx="5564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Aussagekräftiges Patientenprofil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30640-9359-D3A2-9274-C3371C36B704}"/>
              </a:ext>
            </a:extLst>
          </p:cNvPr>
          <p:cNvSpPr txBox="1"/>
          <p:nvPr/>
        </p:nvSpPr>
        <p:spPr>
          <a:xfrm>
            <a:off x="5109084" y="3583857"/>
            <a:ext cx="6378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Glukose-Toleranz + Aktivität ausschlaggebend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B3314-15DB-C84A-FCAB-8E124AA519AA}"/>
              </a:ext>
            </a:extLst>
          </p:cNvPr>
          <p:cNvSpPr txBox="1"/>
          <p:nvPr/>
        </p:nvSpPr>
        <p:spPr>
          <a:xfrm>
            <a:off x="5109084" y="4230188"/>
            <a:ext cx="4224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Funktionales Dashboard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708D-DE6F-F3FB-8D9A-ED79F986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E7A125-5DB2-E3DB-9A8F-B7431ADD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884541"/>
            <a:ext cx="2359152" cy="1088917"/>
          </a:xfrm>
        </p:spPr>
        <p:txBody>
          <a:bodyPr rtlCol="0">
            <a:normAutofit/>
          </a:bodyPr>
          <a:lstStyle/>
          <a:p>
            <a:pPr rtl="0"/>
            <a:r>
              <a:rPr lang="de-DE" sz="7200" dirty="0"/>
              <a:t>Fazit</a:t>
            </a:r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96784951-5BBC-D756-B1E1-4FB9BB6B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F56E-BBA3-F195-397F-0BE459B1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de-DE" noProof="0" smtClean="0"/>
              <a:pPr rtl="0">
                <a:spcAft>
                  <a:spcPts val="600"/>
                </a:spcAft>
              </a:pPr>
              <a:t>20</a:t>
            </a:fld>
            <a:endParaRPr lang="de-DE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FE4179-70A6-2B0A-95E7-17652D8E7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732" y="2172024"/>
            <a:ext cx="3044364" cy="67316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3200" b="1" dirty="0"/>
              <a:t>Erkenntnisse: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A50D8-5E42-CBB8-3E8D-FCB42F670E39}"/>
              </a:ext>
            </a:extLst>
          </p:cNvPr>
          <p:cNvSpPr txBox="1"/>
          <p:nvPr/>
        </p:nvSpPr>
        <p:spPr>
          <a:xfrm>
            <a:off x="5109084" y="2937526"/>
            <a:ext cx="5775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Datensatz liefert erste wertvolle Hinweise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E0E8F-7E77-1BE5-AE23-4D0447F669AD}"/>
              </a:ext>
            </a:extLst>
          </p:cNvPr>
          <p:cNvSpPr txBox="1"/>
          <p:nvPr/>
        </p:nvSpPr>
        <p:spPr>
          <a:xfrm>
            <a:off x="5109084" y="3583857"/>
            <a:ext cx="5068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Muster im Dashboard zu erkennen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562A4-7E07-EDB4-E30C-40C134703103}"/>
              </a:ext>
            </a:extLst>
          </p:cNvPr>
          <p:cNvSpPr txBox="1"/>
          <p:nvPr/>
        </p:nvSpPr>
        <p:spPr>
          <a:xfrm>
            <a:off x="5109084" y="4230188"/>
            <a:ext cx="4921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Mehr Senioren im Datensatz nötig</a:t>
            </a:r>
          </a:p>
        </p:txBody>
      </p:sp>
    </p:spTree>
    <p:extLst>
      <p:ext uri="{BB962C8B-B14F-4D97-AF65-F5344CB8AC3E}">
        <p14:creationId xmlns:p14="http://schemas.microsoft.com/office/powerpoint/2010/main" val="1556998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7726-ACBC-A947-AE74-B78F0AFA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E2D21-5D4A-745A-5864-70B08D3AD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884541"/>
            <a:ext cx="2359152" cy="1088917"/>
          </a:xfrm>
        </p:spPr>
        <p:txBody>
          <a:bodyPr rtlCol="0">
            <a:normAutofit/>
          </a:bodyPr>
          <a:lstStyle/>
          <a:p>
            <a:pPr rtl="0"/>
            <a:r>
              <a:rPr lang="de-DE" sz="7200" dirty="0"/>
              <a:t>Fazit</a:t>
            </a:r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FA91B3B7-09F7-9955-BEA4-4924B4328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7DDA9-E47A-789B-DBD1-00B96421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de-DE" noProof="0" smtClean="0"/>
              <a:pPr rtl="0">
                <a:spcAft>
                  <a:spcPts val="600"/>
                </a:spcAft>
              </a:pPr>
              <a:t>21</a:t>
            </a:fld>
            <a:endParaRPr lang="de-DE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83BAB0-7178-E8A1-4B1D-4AF2B049C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732" y="2117160"/>
            <a:ext cx="4516782" cy="67316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3200" b="1" dirty="0"/>
              <a:t>Offene </a:t>
            </a:r>
            <a:r>
              <a:rPr lang="de-DE" sz="3600" b="1" dirty="0"/>
              <a:t>Fragen</a:t>
            </a:r>
            <a:r>
              <a:rPr lang="de-DE" sz="3200" b="1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D2E0A-31B7-7242-9F57-DA8BA29354DD}"/>
              </a:ext>
            </a:extLst>
          </p:cNvPr>
          <p:cNvSpPr txBox="1"/>
          <p:nvPr/>
        </p:nvSpPr>
        <p:spPr>
          <a:xfrm>
            <a:off x="5109084" y="2937526"/>
            <a:ext cx="6842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Welche Attribute würden das Modell verbessern?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6C5A9-2A92-C9A6-CE97-CD707C108219}"/>
              </a:ext>
            </a:extLst>
          </p:cNvPr>
          <p:cNvSpPr txBox="1"/>
          <p:nvPr/>
        </p:nvSpPr>
        <p:spPr>
          <a:xfrm>
            <a:off x="5109084" y="3583857"/>
            <a:ext cx="6156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 err="1">
                <a:solidFill>
                  <a:schemeClr val="bg1"/>
                </a:solidFill>
              </a:rPr>
              <a:t>Woher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bekommen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wir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err="1">
                <a:solidFill>
                  <a:schemeClr val="bg1"/>
                </a:solidFill>
              </a:rPr>
              <a:t>mehr</a:t>
            </a:r>
            <a:r>
              <a:rPr lang="en-GB" sz="2400" dirty="0">
                <a:solidFill>
                  <a:schemeClr val="bg1"/>
                </a:solidFill>
              </a:rPr>
              <a:t>/</a:t>
            </a:r>
            <a:r>
              <a:rPr lang="en-GB" sz="2400" dirty="0" err="1">
                <a:solidFill>
                  <a:schemeClr val="bg1"/>
                </a:solidFill>
              </a:rPr>
              <a:t>bessere</a:t>
            </a:r>
            <a:r>
              <a:rPr lang="en-GB" sz="2400" dirty="0">
                <a:solidFill>
                  <a:schemeClr val="bg1"/>
                </a:solidFill>
              </a:rPr>
              <a:t> Daten?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73E987-97F9-E6C0-8AA8-6FFD65356048}"/>
              </a:ext>
            </a:extLst>
          </p:cNvPr>
          <p:cNvSpPr txBox="1"/>
          <p:nvPr/>
        </p:nvSpPr>
        <p:spPr>
          <a:xfrm>
            <a:off x="5109084" y="4230188"/>
            <a:ext cx="55646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de-DE" sz="2400" dirty="0">
                <a:solidFill>
                  <a:schemeClr val="bg1"/>
                </a:solidFill>
              </a:rPr>
              <a:t>Wird das Dashboard angenommen und hilft im Alltag?</a:t>
            </a:r>
          </a:p>
        </p:txBody>
      </p:sp>
    </p:spTree>
    <p:extLst>
      <p:ext uri="{BB962C8B-B14F-4D97-AF65-F5344CB8AC3E}">
        <p14:creationId xmlns:p14="http://schemas.microsoft.com/office/powerpoint/2010/main" val="1049930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6FF87-E9B0-BC62-65A4-F6B8D521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E73106-97E6-1206-B61B-7604BEF07A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48132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79C5E1-BA98-BA5C-DA99-11BC6D6A7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880" y="312633"/>
            <a:ext cx="7254240" cy="856061"/>
          </a:xfrm>
        </p:spPr>
        <p:txBody>
          <a:bodyPr rtlCol="0">
            <a:normAutofit fontScale="90000"/>
          </a:bodyPr>
          <a:lstStyle/>
          <a:p>
            <a:pPr rtl="0"/>
            <a:r>
              <a:rPr lang="de-DE" dirty="0">
                <a:solidFill>
                  <a:schemeClr val="bg1"/>
                </a:solidFill>
              </a:rPr>
              <a:t>Handlungsempfehlungen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A32B42-29F8-FE96-D666-C6B969302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864" y="2395712"/>
            <a:ext cx="4335640" cy="612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de-DE" sz="2800" b="1" u="sng" dirty="0"/>
              <a:t>Entwicklungspotential:</a:t>
            </a:r>
            <a:endParaRPr lang="de-DE" sz="2800" b="1" u="sng" dirty="0">
              <a:solidFill>
                <a:schemeClr val="bg1"/>
              </a:solidFill>
            </a:endParaRPr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F5CB5DC1-BC66-093C-1009-0BAC0F46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7726-E0B8-22CD-76E8-B7ADA7DFFC4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de-DE"/>
            </a:defPPr>
            <a:lvl1pPr algn="r"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529BDB9-6F30-27D9-ECA6-A765A630ED36}"/>
              </a:ext>
            </a:extLst>
          </p:cNvPr>
          <p:cNvSpPr txBox="1">
            <a:spLocks/>
          </p:cNvSpPr>
          <p:nvPr/>
        </p:nvSpPr>
        <p:spPr>
          <a:xfrm>
            <a:off x="6096000" y="2395712"/>
            <a:ext cx="4793673" cy="533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de-DE" sz="2800" b="1" u="sng" dirty="0"/>
              <a:t>Mögliche nächste Schritte: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90E9D8-BD4A-1058-3773-28D0C74CDC08}"/>
              </a:ext>
            </a:extLst>
          </p:cNvPr>
          <p:cNvSpPr txBox="1"/>
          <p:nvPr/>
        </p:nvSpPr>
        <p:spPr>
          <a:xfrm>
            <a:off x="1549458" y="3236760"/>
            <a:ext cx="29164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D</a:t>
            </a:r>
            <a:r>
              <a:rPr lang="de-DE" sz="2000" dirty="0" err="1">
                <a:solidFill>
                  <a:schemeClr val="bg1"/>
                </a:solidFill>
              </a:rPr>
              <a:t>atenqualität</a:t>
            </a:r>
            <a:r>
              <a:rPr lang="de-DE" sz="2000" dirty="0">
                <a:solidFill>
                  <a:schemeClr val="bg1"/>
                </a:solidFill>
              </a:rPr>
              <a:t> verbessern:</a:t>
            </a:r>
          </a:p>
          <a:p>
            <a:pPr algn="ctr"/>
            <a:endParaRPr lang="de-DE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bg1"/>
                </a:solidFill>
              </a:rPr>
              <a:t>Mehr Senioren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bg1"/>
                </a:solidFill>
              </a:rPr>
              <a:t>Weitere Angaben wie Lebensstil und Vorerkrankungen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35AC3-9FFA-4CBD-C497-6B6E64F58829}"/>
              </a:ext>
            </a:extLst>
          </p:cNvPr>
          <p:cNvSpPr txBox="1"/>
          <p:nvPr/>
        </p:nvSpPr>
        <p:spPr>
          <a:xfrm>
            <a:off x="7067896" y="3236760"/>
            <a:ext cx="30854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Dashboard </a:t>
            </a:r>
            <a:r>
              <a:rPr lang="en-GB" sz="2000" dirty="0" err="1">
                <a:solidFill>
                  <a:schemeClr val="bg1"/>
                </a:solidFill>
              </a:rPr>
              <a:t>aktiv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r>
              <a:rPr lang="en-GB" sz="2000" dirty="0" err="1">
                <a:solidFill>
                  <a:schemeClr val="bg1"/>
                </a:solidFill>
              </a:rPr>
              <a:t>nutzen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      &amp; Feedback </a:t>
            </a:r>
            <a:r>
              <a:rPr lang="en-GB" sz="2000" dirty="0" err="1">
                <a:solidFill>
                  <a:schemeClr val="bg1"/>
                </a:solidFill>
              </a:rPr>
              <a:t>einholen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bg1"/>
                </a:solidFill>
              </a:rPr>
              <a:t>Datengewinnung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Einführung von </a:t>
            </a:r>
            <a:r>
              <a:rPr lang="de-DE" sz="2000" dirty="0" err="1">
                <a:solidFill>
                  <a:schemeClr val="bg1"/>
                </a:solidFill>
              </a:rPr>
              <a:t>KPI´s</a:t>
            </a:r>
            <a:r>
              <a:rPr lang="de-DE" sz="2000" dirty="0">
                <a:solidFill>
                  <a:schemeClr val="bg1"/>
                </a:solidFill>
              </a:rPr>
              <a:t> zur Überprüfung des Vorhersagemodells</a:t>
            </a:r>
          </a:p>
        </p:txBody>
      </p:sp>
    </p:spTree>
    <p:extLst>
      <p:ext uri="{BB962C8B-B14F-4D97-AF65-F5344CB8AC3E}">
        <p14:creationId xmlns:p14="http://schemas.microsoft.com/office/powerpoint/2010/main" val="302522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291695"/>
            <a:ext cx="4419600" cy="2274610"/>
          </a:xfrm>
        </p:spPr>
        <p:txBody>
          <a:bodyPr rtlCol="0">
            <a:normAutofit fontScale="90000"/>
          </a:bodyPr>
          <a:lstStyle/>
          <a:p>
            <a:pPr rtl="0"/>
            <a:r>
              <a:rPr lang="de-DE" dirty="0">
                <a:solidFill>
                  <a:schemeClr val="bg1"/>
                </a:solidFill>
              </a:rPr>
              <a:t>Vielen Dank für den Auftrag!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2802" y="2181967"/>
            <a:ext cx="4029454" cy="2494066"/>
          </a:xfrm>
        </p:spPr>
        <p:txBody>
          <a:bodyPr rtlCol="0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de-DE" sz="3200" b="1" dirty="0"/>
              <a:t>Noch Fragen ans Team </a:t>
            </a:r>
            <a:r>
              <a:rPr lang="de-DE" sz="3200" b="1" dirty="0" err="1"/>
              <a:t>QuadraQuery</a:t>
            </a:r>
            <a:r>
              <a:rPr lang="de-DE" sz="3200" b="1" dirty="0"/>
              <a:t>?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de-DE" sz="2400" b="1" dirty="0"/>
          </a:p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de-DE" sz="1800" b="1" dirty="0"/>
              <a:t>Bruno Melzer, Michael Rinke, 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de-DE" sz="1800" b="1" dirty="0"/>
              <a:t>Patrick Krause &amp; Sarah Berg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EE046113-1034-4F4B-8AED-98885E8F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/>
          <a:p>
            <a:pPr rtl="0"/>
            <a:r>
              <a:rPr lang="de-DE" dirty="0"/>
              <a:t>16.09.2025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e-DE" smtClean="0"/>
              <a:pPr rtl="0"/>
              <a:t>23</a:t>
            </a:fld>
            <a:endParaRPr lang="de-DE"/>
          </a:p>
        </p:txBody>
      </p:sp>
      <p:pic>
        <p:nvPicPr>
          <p:cNvPr id="5" name="Picture 4" descr="A heart with gears and a heartbeat&#10;&#10;AI-generated content may be incorrect.">
            <a:extLst>
              <a:ext uri="{FF2B5EF4-FFF2-40B4-BE49-F238E27FC236}">
                <a16:creationId xmlns:a16="http://schemas.microsoft.com/office/drawing/2014/main" id="{99F2963B-177E-F1D6-EDB5-F31AD344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10" y="120131"/>
            <a:ext cx="793102" cy="7931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nutzerdefiniert">
  <a:themeElements>
    <a:clrScheme name="Custom 3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46835A"/>
      </a:accent1>
      <a:accent2>
        <a:srgbClr val="46835A"/>
      </a:accent2>
      <a:accent3>
        <a:srgbClr val="19423F"/>
      </a:accent3>
      <a:accent4>
        <a:srgbClr val="186DD5"/>
      </a:accent4>
      <a:accent5>
        <a:srgbClr val="0F3D6E"/>
      </a:accent5>
      <a:accent6>
        <a:srgbClr val="0E94FF"/>
      </a:accent6>
      <a:hlink>
        <a:srgbClr val="6B9F25"/>
      </a:hlink>
      <a:folHlink>
        <a:srgbClr val="C5E799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24_TF03460514_Win32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372</Words>
  <Application>Microsoft Office PowerPoint</Application>
  <PresentationFormat>Widescreen</PresentationFormat>
  <Paragraphs>133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Skeena</vt:lpstr>
      <vt:lpstr>Times New Roman</vt:lpstr>
      <vt:lpstr>Wingdings</vt:lpstr>
      <vt:lpstr>Benutzerdefiniert</vt:lpstr>
      <vt:lpstr>PowerPoint Presentation</vt:lpstr>
      <vt:lpstr>PowerPoint Presentation</vt:lpstr>
      <vt:lpstr>PowerPoint Presentation</vt:lpstr>
      <vt:lpstr>User Stories</vt:lpstr>
      <vt:lpstr>Pflegepersonal</vt:lpstr>
      <vt:lpstr>Datenanalyst</vt:lpstr>
      <vt:lpstr>Abteilung – Age against the Machine</vt:lpstr>
      <vt:lpstr>Krankenhausleitung</vt:lpstr>
      <vt:lpstr>Low-Hanging-Fruit-Matrix</vt:lpstr>
      <vt:lpstr>Explorative Datenanalyse</vt:lpstr>
      <vt:lpstr>Suche nach Ausreißern</vt:lpstr>
      <vt:lpstr>Zusammenhänge und Verteilung</vt:lpstr>
      <vt:lpstr>Mögliche Einflussfaktoren</vt:lpstr>
      <vt:lpstr>Mögliche Einflussfaktoren</vt:lpstr>
      <vt:lpstr>Fehlerrate der Modelle</vt:lpstr>
      <vt:lpstr>Evaluationsmetriken</vt:lpstr>
      <vt:lpstr>Zwischenergebnis</vt:lpstr>
      <vt:lpstr>Übergabe an POWER BI</vt:lpstr>
      <vt:lpstr>Fazit</vt:lpstr>
      <vt:lpstr>Fazit</vt:lpstr>
      <vt:lpstr>Fazit</vt:lpstr>
      <vt:lpstr>Handlungsempfehlungen</vt:lpstr>
      <vt:lpstr>Vielen Dank für den Auftrag!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Leibach</dc:creator>
  <cp:lastModifiedBy>Sarah Leibach</cp:lastModifiedBy>
  <cp:revision>22</cp:revision>
  <dcterms:created xsi:type="dcterms:W3CDTF">2025-09-13T08:01:26Z</dcterms:created>
  <dcterms:modified xsi:type="dcterms:W3CDTF">2025-09-15T17:11:46Z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